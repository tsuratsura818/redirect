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5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PIVOLINK × KYOTO TOURISM ｜ 企画提案書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DF8E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同じQRコードが、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DF8E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毎回ちがう京都へ連れていく。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C8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目的地は、あなたが決める。道のりは、そのときの京都が決める。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動的QR周遊「Pivolink まわりみち」— 印刷物を変えずに人の流れを設計し、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オーバーツーリズムを「分散」で解く観光ソリューション。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DYNAMIC ROUTING　　CROWD DISPERSION　　TOURISM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COVER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1E2D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いちばん近い道は、</a:t>
            </a:r>
            <a:endParaRPr lang="en-US" sz="3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1E2D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いちばん混んでいる。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「まわりみち」という名前に込めたもの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名前の由来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旅の記憶に残るのは、最短ルートではありません。迷い込んだ路地、偶然入った店、予定になかった夕暮れ。まわりみちは、その「遠回りの豊かさ」に名前をつけ、偶然を設計として取り戻すサービスです。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思想 — 「分散」を「楽しみ」に翻訳する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3017520"/>
            <a:ext cx="5349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現象を、行政は「分散」と呼び、旅人は「まわりみち」と呼ぶ。義務ではなく楽しみとして混雑対策を成立させる翻訳装置です。そして目的地は奪わない——行きたい場所には、ちゃんと着く。変えるのは道中だけ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一、最短を疑う。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検索1位ではない京都に、価値の置き場所を作る。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48920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二、偶然を設計する。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抽選と重み付けで「良い偶然」を量産する。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93024" y="489204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三、まちの隅々まで、旅にする。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1624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光の当たる面積を広げることが、まちへの貢献になる。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 &amp; PROPOSAL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京都観光の現在地と、ご提案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6,279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88036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万人（2025年・過去最高）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57276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不満理由の第1位は「混雑」。日本人の47.2%が「残念なことがあった」と回答（京都観光総合調査）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 / 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258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 / AFTER — 動的QR周遊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9496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606040"/>
            <a:ext cx="534924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79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動線が数カ所に固定化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9008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ガイドブック・SNSが同じ場所を指し、清水寺・伏見稲荷・嵐山にピーク集中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679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QRはそのまま、行き先だけ動かす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99008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設置済みQRの遷移先をサーバー側で常時制御。刷り直しゼロ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474720"/>
            <a:ext cx="534924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478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従来ラリーは集中を増幅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587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全員が同じ台紙・同じ順路。施策そのものが行列を作る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54787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参加者ごとにルートが分岐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85876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重み付き抽選で、全員が同じ道を歩かない周遊が生まれる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539496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343400"/>
            <a:ext cx="534924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16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紙のQRは変更が効かない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7274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混雑状況に応じて誘導先を変える手段がない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44165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時間帯・混雑度で自動チューニング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472744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ピークの寺社から、周辺の商店街・穴場へ流れを逃がす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539496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5212080"/>
            <a:ext cx="5349240" cy="0"/>
          </a:xfrm>
          <a:prstGeom prst="line">
            <a:avLst/>
          </a:prstGeom>
          <a:noFill/>
          <a:ln w="9525">
            <a:solidFill>
              <a:srgbClr val="D9D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85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施策効果が測れない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59612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達成者数しか分からず、次年度予算の根拠が弱い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528523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回遊ログが地域の資産になる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55961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スキャン時刻×地点×選択が人流データとして蓄積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 &amp; PROPOSAL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DYNAMIC QR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「行き先が変わるスタンプラリー」を選ぶ理由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8737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7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従来型スタンプラリー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4C8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Pivolink まわりみち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順路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全員同じ。台紙に印刷された固定ルート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参加者が目的地を選び、道中は抽選で毎回分岐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変更コスト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台紙・看板の刷り直し（数週間＋印刷費）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ゼロ。管理画面から即時反映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混雑への作用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同一地点への集中を増幅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分散を設計できる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取得データ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0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達成者数のみ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D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時刻×地点×選択の人流ログを月次還元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3D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736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補助率 2/3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観光庁「面的受入環境整備促進事業」予算100億円。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「需要の分散・平準化」が支援対象のど真ん中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70832" y="45720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99432" y="4736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1,268万人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99432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訪京外国人（2025年・過去最多）。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アプリ不要・スキャンだけで多言語対応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93024" y="45720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21624" y="4736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教育コスト 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21624" y="5257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「スタンプラリー」の型は説明不要。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体験は既知×中身は新規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DYNAMIC QR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体験フローとルーティングエンジン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783080"/>
          </a:xfrm>
          <a:prstGeom prst="roundRect">
            <a:avLst>
              <a:gd name="adj" fmla="val 256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10896" cy="310896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419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目的地を決める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スタートQRを読み、最後に行きたい場所を選択。匿名・個人情報ゼロ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15184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07208" y="1600200"/>
            <a:ext cx="2084832" cy="1783080"/>
          </a:xfrm>
          <a:prstGeom prst="roundRect">
            <a:avLst>
              <a:gd name="adj" fmla="val 256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1783080"/>
            <a:ext cx="310896" cy="310896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17419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0088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0088" y="2560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現在地の物語・見どころを多言語で。ナビキャラが案内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7375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65776" y="1600200"/>
            <a:ext cx="2084832" cy="1783080"/>
          </a:xfrm>
          <a:prstGeom prst="roundRect">
            <a:avLst>
              <a:gd name="adj" fmla="val 256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1783080"/>
            <a:ext cx="310896" cy="310896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17419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48656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二択で選ぶ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48656" y="2560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目的地へ「遠回りで」近づく寄り道を2択で提示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24344" y="1600200"/>
            <a:ext cx="2084832" cy="1783080"/>
          </a:xfrm>
          <a:prstGeom prst="roundRect">
            <a:avLst>
              <a:gd name="adj" fmla="val 256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07224" y="1783080"/>
            <a:ext cx="310896" cy="310896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7419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07224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巡る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07224" y="2560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区間ごとに徒歩ナビ連携。スタンプが貯まっていく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90888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82912" y="1600200"/>
            <a:ext cx="2084832" cy="1783080"/>
          </a:xfrm>
          <a:prstGeom prst="roundRect">
            <a:avLst>
              <a:gd name="adj" fmla="val 2564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1783080"/>
            <a:ext cx="310896" cy="310896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30" name="Text 28"/>
          <p:cNvSpPr/>
          <p:nvPr/>
        </p:nvSpPr>
        <p:spPr>
          <a:xfrm>
            <a:off x="9710928" y="17419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6579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たどり着く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65792" y="25603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選んだ目的地に到着。まわりみち率とクーポンを発行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703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ROUTING ENGINE — 目的地への回廊 × 4つの分散ルール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0050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参加者が選んだ目的地へ向かう「回廊」の中で、4つのルールが道中を選びます。目的地は必ず守られ、毎回変わるのは道のりだけです。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480560"/>
            <a:ext cx="2679192" cy="1600200"/>
          </a:xfrm>
          <a:prstGeom prst="roundRect">
            <a:avLst>
              <a:gd name="adj" fmla="val 2857"/>
            </a:avLst>
          </a:prstGeom>
          <a:solidFill>
            <a:srgbClr val="1E2D3D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RANDOM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919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DF8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重み付き抽選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" y="52669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受入キャパを重みに、回廊内から抽選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10712" y="4480560"/>
            <a:ext cx="2679192" cy="1600200"/>
          </a:xfrm>
          <a:prstGeom prst="roundRect">
            <a:avLst>
              <a:gd name="adj" fmla="val 2857"/>
            </a:avLst>
          </a:prstGeom>
          <a:solidFill>
            <a:srgbClr val="1E2D3D"/>
          </a:solidFill>
          <a:ln/>
        </p:spPr>
      </p:sp>
      <p:sp>
        <p:nvSpPr>
          <p:cNvPr id="40" name="Text 38"/>
          <p:cNvSpPr/>
          <p:nvPr/>
        </p:nvSpPr>
        <p:spPr>
          <a:xfrm>
            <a:off x="3611880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4919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DF8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時間帯ルール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611880" y="52669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ピーク時は有名スポットの重みを下げる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72784" y="4480560"/>
            <a:ext cx="2679192" cy="1600200"/>
          </a:xfrm>
          <a:prstGeom prst="roundRect">
            <a:avLst>
              <a:gd name="adj" fmla="val 2857"/>
            </a:avLst>
          </a:prstGeom>
          <a:solidFill>
            <a:srgbClr val="1E2D3D"/>
          </a:solidFill>
          <a:ln/>
        </p:spPr>
      </p:sp>
      <p:sp>
        <p:nvSpPr>
          <p:cNvPr id="44" name="Text 42"/>
          <p:cNvSpPr/>
          <p:nvPr/>
        </p:nvSpPr>
        <p:spPr>
          <a:xfrm>
            <a:off x="6473952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CONGESTION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73952" y="4919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DF8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混雑度連動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473952" y="52669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スキャンログで重みをリアルタイム補正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34856" y="4480560"/>
            <a:ext cx="2679192" cy="1600200"/>
          </a:xfrm>
          <a:prstGeom prst="roundRect">
            <a:avLst>
              <a:gd name="adj" fmla="val 2857"/>
            </a:avLst>
          </a:prstGeom>
          <a:solidFill>
            <a:srgbClr val="1E2D3D"/>
          </a:solidFill>
          <a:ln/>
        </p:spPr>
      </p:sp>
      <p:sp>
        <p:nvSpPr>
          <p:cNvPr id="48" name="Text 46"/>
          <p:cNvSpPr/>
          <p:nvPr/>
        </p:nvSpPr>
        <p:spPr>
          <a:xfrm>
            <a:off x="9336024" y="4645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CONTEXT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336024" y="4919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DF8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条件出し分け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336024" y="52669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D2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言語・天候・達成状況で内容を変更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09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EXPERIENCE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飽きさせない・連れ出す — 体験を深める6つの設計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7393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73278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739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ナビゲーターコラボ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VTuber・京都のご当地キャラが案内人に。キャラごとにルートの個性を持たせ、「どのキャラと巡るか」自体が楽しみになる。推し活層・アニメツーリズム層の集客装置。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77393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3278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92624" y="17739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同じ目的地でも、別の道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21945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抽選ルーティングは周回ごとに別ルートを生成。目的地がいつも同じでも、道のりは毎回はじめて。全スポット制覇が再訪の動機になる。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57276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77393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278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14816" y="17739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普段行かない場所へ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21624" y="21945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ガイドブックにない路地・店・寺社へ「偶然」出会わせる。分散という行政の目的が、参加者には「セレンディピティ」という体験価値に反転する。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0448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0565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406450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4105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集めたくなるスタンプ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スポット別の朱印風デザインに、時間帯限定・雨の日限定のレアスタンプ。収集欲が「もう一周」を作り、キャラ限定スタンプはファン施策にもなる。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90448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10565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06450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4105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行き先そのものがコラボ先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9432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飲食店・カフェ・工房・寺社を行き先に組み込み、限定メニューや提示特典を展開。QRはそのままで、コラボの入れ替えが随時可能。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93024" y="3904488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4105656"/>
            <a:ext cx="274320" cy="274320"/>
          </a:xfrm>
          <a:prstGeom prst="ellipse">
            <a:avLst/>
          </a:prstGeom>
          <a:solidFill>
            <a:srgbClr val="E5C84B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450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14816" y="4105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多言語で同じ体験を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21624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日英中韓をアクセス時に自動判定。案内文だけでなくナビキャラの台詞も多言語化し、外国人観光客が同じ深さで体験できる。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EXPERIENCE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09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四者をつなぐ構造 — 分散が全員の利益になる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自治体・DMO・観光協会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249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提供：導入費用・スポット選定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獲得：対策実績、人流データ、補助事業の申請材料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0665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商店街・地域店舗・寺社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7249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提供：QR設置場所・特典原資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獲得：素通りされていたエリアへの送客と直接売上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0665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観光客（国内・訪日）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3952" y="27249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提供：スキャンという行動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獲得：行列の回避、自分だけのルート、達成特典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60020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36024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SPONSOR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36024" y="20665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スポンサー企業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36024" y="27249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提供：CM出稿費・特典原資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36024" y="34015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獲得：場所×時間×言語が確定した文脈でのブランド接触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2B4C8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FLYWHEEL — 蓄積するほど、賢くなる。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8680" y="52486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4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匿名のスキャンログが、①ルーティング精度の自動改善　②月次回遊レポート　③補助申請の定量根拠　④CM接触・完視聴レポート——の四役を果たす。運用期間そのものが、競合に真似できない資産になる。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09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 → エリア展開 → 横展開の3フェーズ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AF3DC"/>
          </a:solidFill>
          <a:ln w="19050">
            <a:solidFill>
              <a:srgbClr val="E5C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 ─ 2026 Q4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小規模実証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商店街・寺社周辺で10スポット設置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ランダム＋時間帯の2ルールで開始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分散率・クーポン利用率を計測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効果測定レポート → Phase 2の申請材料に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 ─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エリア展開 × 補助事業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6864" y="2542032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混雑連動・多言語・CM・ナビキャラコラボ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観光庁の面的整備事業へDMOと共同申請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実証データを採択の武器にする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30〜50スポット規模へ拡大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93024" y="160020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1783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 ─ 2027以降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49056" y="20665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SaaS化・他都市展開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9056" y="2542032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鎌倉・金沢・奈良・日光へ横展開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キャンペーン設定のセルフサーブ化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クーポン・CRMはTsumugi連携</a:t>
            </a:r>
            <a:endParaRPr lang="en-US" sz="1050" dirty="0"/>
          </a:p>
          <a:p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「京都モデル」として事例営業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FDF8E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84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検証済みの実測値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37667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回廊ルーティングを3目的地×各1,000周シミュレート：二択の破綻ゼロ／同一目的地でもルート415〜590通り／まわりみち率 中央値204〜270%（＝最短の約2〜2.7倍を楽しみながら歩く。滞在時間・立ち寄り消費の増加余地）。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AA3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料金プラン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実証実験パック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商店街・エリア単位の検証に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¥300,000</a:t>
            </a:r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税別／3ヶ月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10スポット（QR・LP制作込み）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ルーティング2種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スタンプ・達成特典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効果測定レポート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22225">
            <a:solidFill>
              <a:srgbClr val="E5C84B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44475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E5C84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444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99432" y="18105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観光協会・DMOの本格導入に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9432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¥600,000</a:t>
            </a:r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税別／初期構築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9432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30スポットまで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ルーティング4種フル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多言語（日英中韓）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クーポン・店舗管理・月次レポート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93024" y="1572768"/>
            <a:ext cx="36118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4C8"/>
            </a:solidFill>
            <a:prstDash val="solid"/>
          </a:ln>
          <a:effectLst>
            <a:outerShdw sx="100000" sy="100000" kx="0" ky="0" algn="bl" rotWithShape="0" blurRad="76200" dist="25400" dir="5400000">
              <a:srgbClr val="1E2D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21624" y="18105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エリア一体型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1624" y="2130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自治体・広域DMOの面的整備に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21624" y="2395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¥1,500,000〜</a:t>
            </a:r>
            <a:pPr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個別お見積り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21624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スポット数無制限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混雑・交通データAPI連携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補助申請書類に対応した資料</a:t>
            </a:r>
            <a:endParaRPr lang="en-US" sz="10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33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専任サポート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月額運用 ¥50,000〜　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重み調整・LP差し替え・月次回遊レポート ｜ </a:t>
            </a:r>
            <a:pPr indent="0" marL="0">
              <a:buNone/>
            </a:pPr>
            <a:r>
              <a:rPr lang="en-US" sz="1250" b="1" dirty="0">
                <a:solidFill>
                  <a:srgbClr val="2B4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スポンサーCM枠 月額¥30,000〜/スポット　</a:t>
            </a:r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自治体側の運用費を相殺する第3の財源 ｜ 観光庁事業 補助率2/3の活用に対応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93792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E2D3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40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C8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6052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8E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実証実験パック（3ヶ月・¥300,000）で、まず1エリアの分散効果を数字にしませんか。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TSURATSURA / PIVOLINK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65676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PRICING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6871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FA0B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Pivolink まわりみち 企画提案書</dc:title>
  <dc:subject>PptxGenJS Presentation</dc:subject>
  <dc:creator>TSURATSURA / PIVOLINK</dc:creator>
  <cp:lastModifiedBy>TSURATSURA / PIVOLINK</cp:lastModifiedBy>
  <cp:revision>1</cp:revision>
  <dcterms:created xsi:type="dcterms:W3CDTF">2026-08-02T15:00:34Z</dcterms:created>
  <dcterms:modified xsi:type="dcterms:W3CDTF">2026-08-02T15:00:34Z</dcterms:modified>
</cp:coreProperties>
</file>